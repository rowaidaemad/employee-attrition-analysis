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6aad8521da40a7" /><Relationship Type="http://schemas.openxmlformats.org/officeDocument/2006/relationships/extended-properties" Target="/docProps/app.xml" Id="R394f92561c634585" /><Relationship Type="http://schemas.openxmlformats.org/officeDocument/2006/relationships/officeDocument" Target="/ppt/presentation.xml" Id="R3c917be2d34e4c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8986581b3b4994"/>
  </p:sldMasterIdLst>
  <p:notesMasterIdLst>
    <p:notesMasterId xmlns:r="http://schemas.openxmlformats.org/officeDocument/2006/relationships" r:id="Rda68040b31e848a2"/>
  </p:notesMasterIdLst>
  <p:sldIdLst>
    <p:sldId xmlns:r="http://schemas.openxmlformats.org/officeDocument/2006/relationships" id="256" r:id="R04e8ed9e163f4116"/>
    <p:sldId xmlns:r="http://schemas.openxmlformats.org/officeDocument/2006/relationships" id="257" r:id="Rc78394421a40417c"/>
    <p:sldId xmlns:r="http://schemas.openxmlformats.org/officeDocument/2006/relationships" id="258" r:id="R78f37cc0c1f74dec"/>
    <p:sldId xmlns:r="http://schemas.openxmlformats.org/officeDocument/2006/relationships" id="259" r:id="R259d4b031ead454c"/>
    <p:sldId xmlns:r="http://schemas.openxmlformats.org/officeDocument/2006/relationships" id="260" r:id="R966701a43c63445c"/>
    <p:sldId xmlns:r="http://schemas.openxmlformats.org/officeDocument/2006/relationships" id="261" r:id="R632335613b08457d"/>
    <p:sldId xmlns:r="http://schemas.openxmlformats.org/officeDocument/2006/relationships" id="262" r:id="R04b581c149c54e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fc682c670c4a3a" /><Relationship Type="http://schemas.openxmlformats.org/officeDocument/2006/relationships/slideMaster" Target="/ppt/slideMasters/slideMaster1.xml" Id="Rc58986581b3b4994" /><Relationship Type="http://schemas.openxmlformats.org/officeDocument/2006/relationships/notesMaster" Target="/ppt/notesMasters/notesMaster1.xml" Id="Rda68040b31e848a2" /><Relationship Type="http://schemas.openxmlformats.org/officeDocument/2006/relationships/presProps" Target="/ppt/presProps.xml" Id="R1b397ae5477a440c" /><Relationship Type="http://schemas.openxmlformats.org/officeDocument/2006/relationships/tableStyles" Target="/ppt/tableStyles.xml" Id="Rab82ab39b26543fe" /><Relationship Type="http://schemas.openxmlformats.org/officeDocument/2006/relationships/slide" Target="/ppt/slides/slide1.xml" Id="R04e8ed9e163f4116" /><Relationship Type="http://schemas.openxmlformats.org/officeDocument/2006/relationships/slide" Target="/ppt/slides/slide2.xml" Id="Rc78394421a40417c" /><Relationship Type="http://schemas.openxmlformats.org/officeDocument/2006/relationships/slide" Target="/ppt/slides/slide3.xml" Id="R78f37cc0c1f74dec" /><Relationship Type="http://schemas.openxmlformats.org/officeDocument/2006/relationships/slide" Target="/ppt/slides/slide4.xml" Id="R259d4b031ead454c" /><Relationship Type="http://schemas.openxmlformats.org/officeDocument/2006/relationships/slide" Target="/ppt/slides/slide5.xml" Id="R966701a43c63445c" /><Relationship Type="http://schemas.openxmlformats.org/officeDocument/2006/relationships/slide" Target="/ppt/slides/slide6.xml" Id="R632335613b08457d" /><Relationship Type="http://schemas.openxmlformats.org/officeDocument/2006/relationships/slide" Target="/ppt/slides/slide7.xml" Id="R04b581c149c54e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f72b4fd3bd40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6c45c8e6df4c48" /><Relationship Type="http://schemas.openxmlformats.org/officeDocument/2006/relationships/notesMaster" Target="/ppt/notesMasters/notesMaster1.xml" Id="R60e2c03e966046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4687a0857d40a5" /><Relationship Type="http://schemas.openxmlformats.org/officeDocument/2006/relationships/notesMaster" Target="/ppt/notesMasters/notesMaster1.xml" Id="Rf61d668f3bda4d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c35359f0c64771" /><Relationship Type="http://schemas.openxmlformats.org/officeDocument/2006/relationships/notesMaster" Target="/ppt/notesMasters/notesMaster1.xml" Id="Rfd4770d1a69f46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aefdfcc6e041de" /><Relationship Type="http://schemas.openxmlformats.org/officeDocument/2006/relationships/notesMaster" Target="/ppt/notesMasters/notesMaster1.xml" Id="Recb94fa302fc4d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49bc0654aa4ad9" /><Relationship Type="http://schemas.openxmlformats.org/officeDocument/2006/relationships/notesMaster" Target="/ppt/notesMasters/notesMaster1.xml" Id="R69bc46956c4044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d2738464b34cea" /><Relationship Type="http://schemas.openxmlformats.org/officeDocument/2006/relationships/notesMaster" Target="/ppt/notesMasters/notesMaster1.xml" Id="Re96d788ce32f4f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50dc6aa48c4327" /><Relationship Type="http://schemas.openxmlformats.org/officeDocument/2006/relationships/notesMaster" Target="/ppt/notesMasters/notesMaster1.xml" Id="Rbab12495a64f44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evidence: employee_attrition_analysis2.ipynb</a:t>
            </a:r>
          </a:p>
          <a:p xmlns:a="http://schemas.openxmlformats.org/drawingml/2006/main">
            <a:r>
              <a:t>Internal figure: figures/pay_equity_actual_vs_predicted.png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evidence: employee_attrition_analysis2.ipynb, sections 2–4 and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evidence: employee_attrition_analysis2.ipynb, sections 3.1–3.4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evidence: employee_attrition_analysis2.ipynb, sections 3.5 and 4</a:t>
            </a:r>
          </a:p>
          <a:p xmlns:a="http://schemas.openxmlformats.org/drawingml/2006/main">
            <a:r>
              <a:t>Internal figure: figures/lof_before_after.png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evidence: employee_attrition_analysis2.ipynb, section 5</a:t>
            </a:r>
          </a:p>
          <a:p xmlns:a="http://schemas.openxmlformats.org/drawingml/2006/main">
            <a:r>
              <a:t>Internal figure: figures/pay_equity_actual_vs_predicted.png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evidence: employee_attrition_analysis2.ipynb, sections 6–7</a:t>
            </a:r>
          </a:p>
          <a:p xmlns:a="http://schemas.openxmlformats.org/drawingml/2006/main">
            <a:r>
              <a:t>Internal figure: figures/attrition_roc_curve.png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evidence: employee_attrition_analysis2.ipynb, section 8</a:t>
            </a:r>
          </a:p>
          <a:p xmlns:a="http://schemas.openxmlformats.org/drawingml/2006/main">
            <a:r>
              <a:t>Internal figure: figures/kmeans_silhouette.png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7119d3e4eb46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917d344ac9431c" /><Relationship Type="http://schemas.openxmlformats.org/officeDocument/2006/relationships/slideLayout" Target="/ppt/slideLayouts/slideLayout1.xml" Id="Rd9f7c8b1cb4e4d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f7c8b1cb4e4d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e016d22804c89" /><Relationship Type="http://schemas.openxmlformats.org/officeDocument/2006/relationships/image" Target="/ppt/media/image.png" Id="R1cbb495d4e5d4a0d" /><Relationship Type="http://schemas.openxmlformats.org/officeDocument/2006/relationships/notesSlide" Target="/ppt/notesSlides/notesSlide1.xml" Id="Re02e892ff76f4d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4a95ef1f44e1d" /><Relationship Type="http://schemas.openxmlformats.org/officeDocument/2006/relationships/notesSlide" Target="/ppt/notesSlides/notesSlide2.xml" Id="Rf124162ca81b47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7677e81e740b7" /><Relationship Type="http://schemas.openxmlformats.org/officeDocument/2006/relationships/notesSlide" Target="/ppt/notesSlides/notesSlide3.xml" Id="R95c342336db746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20cccf2a74eee" /><Relationship Type="http://schemas.openxmlformats.org/officeDocument/2006/relationships/image" Target="/ppt/media/image2.png" Id="R917d79514aec47a9" /><Relationship Type="http://schemas.openxmlformats.org/officeDocument/2006/relationships/notesSlide" Target="/ppt/notesSlides/notesSlide4.xml" Id="R3a225f90907445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c91e8f9834cc3" /><Relationship Type="http://schemas.openxmlformats.org/officeDocument/2006/relationships/image" Target="/ppt/media/image3.png" Id="R3ba4a331b3644838" /><Relationship Type="http://schemas.openxmlformats.org/officeDocument/2006/relationships/notesSlide" Target="/ppt/notesSlides/notesSlide5.xml" Id="R93a6cd1efcd046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198196e1944c0" /><Relationship Type="http://schemas.openxmlformats.org/officeDocument/2006/relationships/image" Target="/ppt/media/image4.png" Id="Re81308f2dde946d1" /><Relationship Type="http://schemas.openxmlformats.org/officeDocument/2006/relationships/notesSlide" Target="/ppt/notesSlides/notesSlide6.xml" Id="R46ceabacc1f449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55c865ed84759" /><Relationship Type="http://schemas.openxmlformats.org/officeDocument/2006/relationships/image" Target="/ppt/media/image5.png" Id="R623df246afb94ac4" /><Relationship Type="http://schemas.openxmlformats.org/officeDocument/2006/relationships/notesSlide" Target="/ppt/notesSlides/notesSlide7.xml" Id="R26c5568e137a44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386E4-0B97-41D7-8A64-4E89C276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EMPLOYEE ATTRITION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3A5F3-BFE0-48DE-AEEC-241596A7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Why these</a:t>
            </a:r>
          </a:p>
          <a:p xmlns:a="http://schemas.openxmlformats.org/drawingml/2006/main">
            <a:pPr algn="l"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preprocessing steps</a:t>
            </a:r>
          </a:p>
          <a:p xmlns:a="http://schemas.openxmlformats.org/drawingml/2006/main">
            <a:pPr algn="l"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and models?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D2ECB-DBF3-40FE-95AD-92060554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A short methodology walkthrough for the final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C4AEE-CC73-4448-9AA0-D8F52C57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Data Analytics Bootcamp • Instructor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65EB6-697A-4AF7-909C-6CBAB2C5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2450"/>
            <a:ext cx="5257800" cy="57531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b495d4e5d4a0d"/>
          <a:stretch xmlns:a="http://schemas.openxmlformats.org/drawingml/2006/main"/>
        </p:blipFill>
        <p:spPr>
          <a:xfrm xmlns:a="http://schemas.openxmlformats.org/drawingml/2006/main">
            <a:off x="6553200" y="1218820"/>
            <a:ext cx="4800600" cy="407746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4FFFC-F4B6-42CC-AD05-D1E483AE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8102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25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A careful workflow turns messy HR records into explainable decisions.</a:t>
            </a:r>
          </a:p>
        </p:txBody>
      </p:sp>
    </p:spTree>
    <p:extLst>
      <p:ext uri="{BB962C8B-B14F-4D97-AF65-F5344CB8AC3E}">
        <p14:creationId xmlns:p14="http://schemas.microsoft.com/office/powerpoint/2010/main" val="10985307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F623CE-1481-4B4B-84DA-F5755155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THE STARTING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D0C4A-C636-4964-BE9B-ADFB2C48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data needed preparation before any model could be trusted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3E1AD-E447-4BD9-BB40-BFA83272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12BD3-4CC0-4467-9A67-8EE01DDB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A6AD6-57D7-4F95-9885-8D860624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143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8B3A1-9D0C-4A10-9D9F-F61CFF67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5563"/>
                </a:solidFill>
              </a:defRPr>
            </a:pPr>
            <a:r>
              <a:rPr sz="1800" b="1">
                <a:solidFill>
                  <a:srgbClr val="4B556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A6EAB-71E1-4684-B68F-F1C7BE2F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Raw export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FBB47-80E1-4A7D-A7D3-F1225FC5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66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1,045 HR records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Inconsistent text, duplicate employees, hidden missing values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3FF83-943C-4971-AD0B-07A4AC70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1051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DC7AC-6FCD-46D5-A996-1FF85908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95500"/>
            <a:ext cx="3143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1D67E-018E-4E94-ABD3-1ABE670D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24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E5028-CE8A-45C7-9899-F1407E2E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76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Prepared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078F9-B888-4CDC-B0CD-368ABE14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90900"/>
            <a:ext cx="266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Standardise → impute → remove unusual records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960 analysis-ready employees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DD9DF-DA91-478A-83EA-062E74E9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54E47-D78B-4D9A-AAB3-CCD8ED49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3143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29CA4-5828-4615-9601-F6E51391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24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5563"/>
                </a:solidFill>
              </a:defRPr>
            </a:pPr>
            <a:r>
              <a:rPr sz="1800" b="1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0E8D64-4CC4-4A86-A8EC-F821AA5F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765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Decision-ready outputs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6A56F9-E496-4274-84A1-A7F758AD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90900"/>
            <a:ext cx="266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Pay review flags, attrition probabilities, high-potential screening, segments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464AC-16F5-479C-B46F-B9647698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86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Why it matters: models learn patterns in the data they receive. Cleaning protects every result that follows.</a:t>
            </a:r>
          </a:p>
        </p:txBody>
      </p:sp>
    </p:spTree>
    <p:extLst>
      <p:ext uri="{BB962C8B-B14F-4D97-AF65-F5344CB8AC3E}">
        <p14:creationId xmlns:p14="http://schemas.microsoft.com/office/powerpoint/2010/main" val="7608818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3F7563-8EFE-4AC6-AED5-8FB3A137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PREPROCESSING CHOICE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48FB4-9B91-4ECD-9CFD-CA3E90EA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214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We cleaned meaning, duplicates, and missing values—not just blank cells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84243-CC7A-4E8C-9D7E-A73F3E91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31B48-EF14-4F7C-AA26-40E771C5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20FA0-B1A6-4382-8382-5602F1AA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46654-08C3-40B3-9D71-F54142C3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Standardise 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4D915-FB7B-4D29-8929-7B9B9A59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4486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Department and education categories had inconsistent spelling and casing. Standardisation prevents one real category being split into several false groups.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62155-AF87-48E2-984A-42E4EC2A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1FFAB-12EA-4A1A-80F6-7740FB54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Remove duplicates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4805C-CD2C-438D-AF49-B9A28041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486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Repeated employee records would overweight the same person in every model. We retained one record per employee.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861BA-8A72-431A-B5B2-CE99C887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ACEF8-B12C-4CB4-83AA-87EB008D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Use KNN imputation (k = 5)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A62FF-4ABD-4B0F-A64A-60F764BF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4486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11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Missing numeric values appeared as blanks, “?” and −999. KNN uses similar employees rather than a single mean, preserving local patterns.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9641C-F70E-4432-8211-D85549A6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476750" cy="33528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06CAA-D26E-44C0-AB74-B0D9A471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76450"/>
            <a:ext cx="385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Why not simply use the mean?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A79C5-4629-4430-9095-5DC25D73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86050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A mean makes different employees look artificially alike. KNN estimates a value from the five nearest employee profiles after scaling the numeric fields.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41908-E493-4598-A314-EEA5D0F5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71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Distance metric: nan_euclidean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4415D-1CD8-44A1-8E08-FA1549B3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958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Works even when some values are missing.</a:t>
            </a:r>
          </a:p>
        </p:txBody>
      </p:sp>
    </p:spTree>
    <p:extLst>
      <p:ext uri="{BB962C8B-B14F-4D97-AF65-F5344CB8AC3E}">
        <p14:creationId xmlns:p14="http://schemas.microsoft.com/office/powerpoint/2010/main" val="773198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6FE89-48E9-4C17-A943-4108A43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PREPROCESSING CHOICE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02AB0-0069-4426-AA4F-01A8A7C3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We prepared the data according to each algorithm’s assumptions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12575-015D-4FF6-AB7D-D5A51084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A0B00-0389-4E23-B6C5-54622642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04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d79514aec47a9"/>
          <a:stretch xmlns:a="http://schemas.openxmlformats.org/drawingml/2006/main"/>
        </p:blipFill>
        <p:spPr>
          <a:xfrm xmlns:a="http://schemas.openxmlformats.org/drawingml/2006/main">
            <a:off x="609600" y="2013798"/>
            <a:ext cx="5048250" cy="311615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36F9C-531D-466D-AD6A-E8001E5A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LOF outlier removal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F5594-6012-4D51-988F-CDF17DA1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Local Outlier Factor flagged 40 unusual records; removing them prevents data-entry errors from distorting model boundaries.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48D37-236D-45F7-BF26-8C648CE4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322FE-4B66-49F9-B2CC-A4E75289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669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Encode categories correctly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90D82C-EDA4-474B-9DB6-7067D954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472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Education has a natural order, so it is ordinal-encoded. Department and Job Role have no order, so they are one-hot encoded.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867AF-D244-4C28-A1F3-11D91D2D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E08A7-C5A8-49EF-B3CF-F41DDF67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Scale distance-sensitive 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41EA7-37DB-4568-A19B-D17B153A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19500"/>
            <a:ext cx="472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0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KNN, LOF, SVM and K-Means use distances. Scaling stops Monthly Income from dominating Age or Tenure simply because its numbers are larger.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DAD66-8ECA-4E30-981D-3CA46445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F2570-5197-4D3F-BC4F-445333AD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577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Balance the attrition classifier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0A7FE-EB08-4D51-8DCF-967BEF4E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43500"/>
            <a:ext cx="472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Attrition is less common than non-attrition. Logistic Regression uses balanced class weights so the minority “Yes” cases are not ignored.</a:t>
            </a:r>
          </a:p>
        </p:txBody>
      </p:sp>
    </p:spTree>
    <p:extLst>
      <p:ext uri="{BB962C8B-B14F-4D97-AF65-F5344CB8AC3E}">
        <p14:creationId xmlns:p14="http://schemas.microsoft.com/office/powerpoint/2010/main" val="10639209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658E9-8C27-4EF0-AEDE-03B05EF4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MODEL CHOICE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9E927-A055-4B6C-AFDF-D77FD141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Linear Regression makes the pay-equity analysis explainable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F97A7-866F-443F-9EEA-27583D5F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9FC1B-5883-4987-8564-9021DF6E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05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4a331b3644838"/>
          <a:stretch xmlns:a="http://schemas.openxmlformats.org/drawingml/2006/main"/>
        </p:blipFill>
        <p:spPr>
          <a:xfrm xmlns:a="http://schemas.openxmlformats.org/drawingml/2006/main">
            <a:off x="6611174" y="1600200"/>
            <a:ext cx="4541776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C3420-34AA-4B4C-97FD-F35ADF9C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980AB-DA8B-4B9C-9FF3-D86D0E49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Is actual monthly income aligned with an employee’s profile?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AC5DB-30E9-436F-AAAB-52686A42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978F7-44D4-4837-B448-F6388AA4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Why Linear Regression?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870E2-DBE7-4C58-8E7F-F17CB8C4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472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Income is a continuous amount. Linear Regression provides a clear expected-income benchmark and understandable residuals: actual minus predicted pay.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F93C3-E161-4B66-BB22-E06EC7C5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BF9C2-619B-4AF2-8E18-115CE94E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Why this is useful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E61A1F-931F-43CB-98ED-592A324B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472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It shows the actual-versus-predicted relationship directly and flags employees beyond ±2 standard deviations for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8E9EB-37FF-483A-A159-2F3FBF46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638800"/>
            <a:ext cx="528637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01CC48-2B59-44C3-ABC1-A33EBB81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8007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Use as a screening signal—not proof of unfair pay.</a:t>
            </a:r>
          </a:p>
        </p:txBody>
      </p:sp>
    </p:spTree>
    <p:extLst>
      <p:ext uri="{BB962C8B-B14F-4D97-AF65-F5344CB8AC3E}">
        <p14:creationId xmlns:p14="http://schemas.microsoft.com/office/powerpoint/2010/main" val="1638175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CE503-E6A5-48D9-ABE7-896717B2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MODEL CHOICE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A982D-0F58-47F4-9F40-DDF492D5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Classification models match the two yes/no HR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212F9-3269-4507-9F92-982CCE4C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E5849-96E9-49B9-B09A-80FAD65C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C9FED-8C3B-4C19-A4EA-622F603E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0673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A58D9-07CD-4B2A-BAA6-2AAFA164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Attrition prediction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4FFF9-F116-4F4B-8C58-13525A93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Logistic Regression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3861D-AE46-4A8F-BAD6-BE7718C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Why chosen: Attrition is Yes/No, and Logistic Regression outputs a probability that HR can rank and interpret. Class weights address imbalance.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308f2dde946d1"/>
          <a:stretch xmlns:a="http://schemas.openxmlformats.org/drawingml/2006/main"/>
        </p:blipFill>
        <p:spPr>
          <a:xfrm xmlns:a="http://schemas.openxmlformats.org/drawingml/2006/main">
            <a:off x="1958001" y="4000500"/>
            <a:ext cx="1894248" cy="15621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58DC5-19FD-454C-ABB8-88252487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38300"/>
            <a:ext cx="50673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F3F4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07D36-596A-4BEB-B84C-95791E2F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4310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Talent identification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92464-2B4A-410D-99A4-1F86F502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Linear SVM vs. RBF SVM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272BF-2E2E-4642-A45D-A61E0221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Why chosen: the target is binary (high performer or not), while SVM tests both a simple linear boundary and a flexible non-linear boundary. We select by F1 score—not accuracy alone.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6A95E-90AF-4C00-9F56-CEEB1E7D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197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Critical safeguard: Performance_Score is excluded from the inputs because it defines the target.</a:t>
            </a:r>
          </a:p>
        </p:txBody>
      </p:sp>
    </p:spTree>
    <p:extLst>
      <p:ext uri="{BB962C8B-B14F-4D97-AF65-F5344CB8AC3E}">
        <p14:creationId xmlns:p14="http://schemas.microsoft.com/office/powerpoint/2010/main" val="3918088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1F08F0-299F-482E-96D6-103DE2B9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MODEL CHOICE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75AB3-7022-4DF1-84AC-A3B1ADAF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9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K-Means converts a complex workforce into two actionable segments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E1119-61AF-45D7-B602-39F1A98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8F4CE-EA9F-4F69-B152-6203815B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07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df246afb94ac4"/>
          <a:stretch xmlns:a="http://schemas.openxmlformats.org/drawingml/2006/main"/>
        </p:blipFill>
        <p:spPr>
          <a:xfrm xmlns:a="http://schemas.openxmlformats.org/drawingml/2006/main">
            <a:off x="609600" y="1865197"/>
            <a:ext cx="4238625" cy="298473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8175C-9556-4CA9-BA8C-8B08888B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Why K-Means?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790CD-6805-431F-B632-335ED39C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4238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4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There is no segment label to predict. K-Means discovers natural groups using age, tenure, income and performance—without using Attrition.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8E2D6-530C-4DEC-B87C-08701443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43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Why k = 2?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1E5C2-92E9-495E-9162-4ABFDACE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76450"/>
            <a:ext cx="538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The strongest silhouette score supports two simple, distinct and explainable employee groups.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664C9-CEAE-4DEA-B718-F83B724A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28950"/>
            <a:ext cx="27432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31CE4-5C9B-454A-88CC-19AFF8D0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67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BA5B9-3DD1-4EE6-9E48-78248953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385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2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Short-Tenure,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Lower-Income Employees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CA2A3-E0CF-4D98-B21E-FBA37285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624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Focus: onboarding, check-ins, career and pay progression.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D47C8-FEFB-4606-9A1F-CE46E7E4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274320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0EEC2-AE8C-4D2B-B1A0-17B6174C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67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2D778-34AB-4675-AA9A-32A3D07F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385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Established,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Higher-Income Employees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987DE-BCAE-4709-881D-4237A031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624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5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Focus: recognition, succession, growth and retention conversations.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3A441-0DCD-4A68-8D58-552193B4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81625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Final takeaway: every preprocessing and model choice was selected to produce results that are valid, explainable, and usable in Power BI.</a:t>
            </a:r>
          </a:p>
        </p:txBody>
      </p:sp>
    </p:spTree>
    <p:extLst>
      <p:ext uri="{BB962C8B-B14F-4D97-AF65-F5344CB8AC3E}">
        <p14:creationId xmlns:p14="http://schemas.microsoft.com/office/powerpoint/2010/main" val="4824442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2026-08-20T01:09:24.1450000Z</dcterms:created>
  <dcterms:modified xsi:type="dcterms:W3CDTF">2026-08-20T01:09:24.1460000Z</dcterms:modified>
</coreProperties>
</file>